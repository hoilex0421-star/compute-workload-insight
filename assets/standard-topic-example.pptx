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6e3d69aee9436b" /><Relationship Type="http://schemas.openxmlformats.org/officeDocument/2006/relationships/extended-properties" Target="/docProps/app.xml" Id="Rf110f4b4a81949cd" /><Relationship Type="http://schemas.openxmlformats.org/officeDocument/2006/relationships/officeDocument" Target="/ppt/presentation.xml" Id="R805f9673eaa34c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324e96068f4b46"/>
  </p:sldMasterIdLst>
  <p:notesMasterIdLst>
    <p:notesMasterId xmlns:r="http://schemas.openxmlformats.org/officeDocument/2006/relationships" r:id="R1f59e5e8aac2498b"/>
  </p:notesMasterIdLst>
  <p:sldIdLst>
    <p:sldId xmlns:r="http://schemas.openxmlformats.org/officeDocument/2006/relationships" id="256" r:id="R07ab0e8181de42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367e15bb84285" /><Relationship Type="http://schemas.openxmlformats.org/officeDocument/2006/relationships/slideMaster" Target="/ppt/slideMasters/slideMaster1.xml" Id="R76324e96068f4b46" /><Relationship Type="http://schemas.openxmlformats.org/officeDocument/2006/relationships/notesMaster" Target="/ppt/notesMasters/notesMaster1.xml" Id="R1f59e5e8aac2498b" /><Relationship Type="http://schemas.openxmlformats.org/officeDocument/2006/relationships/presProps" Target="/ppt/presProps.xml" Id="R065670f0a3d5499b" /><Relationship Type="http://schemas.openxmlformats.org/officeDocument/2006/relationships/tableStyles" Target="/ppt/tableStyles.xml" Id="Rce19a354a9814232" /><Relationship Type="http://schemas.openxmlformats.org/officeDocument/2006/relationships/slide" Target="/ppt/slides/slide1.xml" Id="R07ab0e8181de42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8135570145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mpute Insight">
      <a:dk1>
        <a:srgbClr val="171717"/>
      </a:dk1>
      <a:lt1>
        <a:srgbClr val="FFFFFF"/>
      </a:lt1>
      <a:dk2>
        <a:srgbClr val="606060"/>
      </a:dk2>
      <a:lt2>
        <a:srgbClr val="EEEEEE"/>
      </a:lt2>
      <a:accent1>
        <a:srgbClr val="C00000"/>
      </a:accent1>
      <a:accent2>
        <a:srgbClr val="005B96"/>
      </a:accent2>
      <a:accent3>
        <a:srgbClr val="606060"/>
      </a:accent3>
      <a:accent4>
        <a:srgbClr val="606060"/>
      </a:accent4>
      <a:accent5>
        <a:srgbClr val="606060"/>
      </a:accent5>
      <a:accent6>
        <a:srgbClr val="606060"/>
      </a:accent6>
      <a:hlink>
        <a:srgbClr val="005B96"/>
      </a:hlink>
      <a:folHlink>
        <a:srgbClr val="005B9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mpute Ins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79b0a6c6b44c20" /><Relationship Type="http://schemas.openxmlformats.org/officeDocument/2006/relationships/notesMaster" Target="/ppt/notesMasters/notesMaster1.xml" Id="Rf2f3a937cb1547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具身智能：案例、来源与建模口径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检索截止：2026-10-02。公开实验为作者报告，未独立复现。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七项Astra案例横向表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以下数字均为作者/项目方报告，不能跨任务、跨平台合并为一个“机器人成功率”。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ID / 项目 | 连接方式与已展示任务 | 环境及结果 | 负载含义与边界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**[1] GPT-Policy** | 相机、示范视频、对应动作、历史→Astra→机器人工具；取饮料、拧瓶盖、插拔插头 | **实机**ARX X5/YAM；拧盖0/3→3/3，插拔插头0/3→2/3，比较无示范与视频＋动作；论文10任务、每条件3次 | 固定权重适配产生多模态上下文和多轮推理；样本很少，成功不代表高速度或可靠部署 |</a:t>
            </a:r>
          </a:p>
          <a:p xmlns:a="http://schemas.openxmlformats.org/drawingml/2006/main">
            <a:r>
              <a:t>| **[2] RoboICL** | 示范与交互记忆送入固定Astra，输出有界笛卡尔动作块；仿真双臂，实机单臂 | **RoboDojo仿真＋Franka Research 3实机**；实机插销、折毛巾、搭桥，0/1/3示范平均进度分数14.45/63.33/78.89；每任务每条件5次 | 长视觉上下文、缓存、动作块和重规划频率；进度分数不是整任务成功率 |</a:t>
            </a:r>
          </a:p>
          <a:p xmlns:a="http://schemas.openxmlformats.org/drawingml/2006/main">
            <a:r>
              <a:t>| **[3] GPT-as-Policy** | Astra直接输出动作，对比π0.5动作经Astra审查与修正 | **仿真**RoboDojo，10任务×5个对齐案例；直接26%，协作48%，各50次 | 支持通用模型与动作模型协作；不能称为实机收益 |</a:t>
            </a:r>
          </a:p>
          <a:p xmlns:a="http://schemas.openxmlformats.org/drawingml/2006/main">
            <a:r>
              <a:t>| **[4] RPent / Harness VLA** | 感知、推理、记忆、执行框架调用冻结VLA，以经验引导操作原语与失败恢复 | LIBERO、RoboCasa、RoboTwin等**仿真**；另有Franka单/双臂**实机扩展** | 多模型编排和持久记忆；实机扩展不等于已验证实机成功率 |</a:t>
            </a:r>
          </a:p>
          <a:p xmlns:a="http://schemas.openxmlformats.org/drawingml/2006/main">
            <a:r>
              <a:t>| **[5] CodeActionBench** | Astra→Codex CLI→MCP/API→程序及双臂动作；分类、入盒、堆叠等25项任务 | **仿真**；55/75＝73.3%；22/25任务至少成功一次；全研究9配置、675次 | 代码、工具、观测与动作往返；25个固定场景，未验证实机迁移；22/25是覆盖率 |</a:t>
            </a:r>
          </a:p>
          <a:p xmlns:a="http://schemas.openxmlformats.org/drawingml/2006/main">
            <a:r>
              <a:t>| **[6] RoboCurve / Inspect Robots** | Astra读顶视/腕部相机和状态，调末端位姿工具，经本地逆解控制YAM | **实机**；入碗19/20、拼图插槽2/20；StationeryBench五项复杂双臂任务合计7/100全成功 | 简单抓放到精细接触、长序列仍有明显落差；本地控制也是系统的一部分 |</a:t>
            </a:r>
          </a:p>
          <a:p xmlns:a="http://schemas.openxmlformats.org/drawingml/2006/main">
            <a:r>
              <a:t>| **[7] astra-robot-sim2real** | Codex app-server连接改装XLeRobot；Astra读几何/经验、图像并编写动作程序，接近电梯按钮 | **仿真＋12次实机试验**；仿真资料/经验降低同起点平均任务时间53.0%/49.9% | 经验/程序复用可减少规划开销；实机成功定义是人工确认夹爪尖接触，不是12/12成功按亮按钮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“直接控制”指通用模型输出机器人工具调用、末端目标或动作块。运动规划、逆运动学、插值、约束检查和伺服仍由执行系统承担，不是Astra按kHz直接输出电机力矩。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Astra案例的原始来源及口径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[1] GPT-Policy：从示范到实机工具动作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[项目报告](https://cheng-haha.github.io/GPT-Policy/) · [论文](https://arxiv.org/abs/2609.19138) · [代码与演示索引](https://github.com/cheng-haha/GPT-Policy)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对项目报告实验表与README。冻结通用视觉语言模型，无任务梯度更新；上下文编译器选取相关转移，输入可含人类/机器人示范、对应动作、目标图和历史。工具适配器生成笛卡尔路径、检查逆解误差、安排关节参考轨迹并返回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任务 | 无示范 | 机器人视频 | 视频＋对应动作 | 视频＋动作条件平均时间/决策数 |</a:t>
            </a:r>
          </a:p>
          <a:p xmlns:a="http://schemas.openxmlformats.org/drawingml/2006/main">
            <a:r>
              <a:t>|---|---:|---:|---:|---|</a:t>
            </a:r>
          </a:p>
          <a:p xmlns:a="http://schemas.openxmlformats.org/drawingml/2006/main">
            <a:r>
              <a:t>| 拧瓶盖 | 0/3 | 2/3 | 3/3 | 17.9分钟 / 54.7次 |</a:t>
            </a:r>
          </a:p>
          <a:p xmlns:a="http://schemas.openxmlformats.org/drawingml/2006/main">
            <a:r>
              <a:t>| 拔出并重新插入插头 | 0/3 | 0/3 | 2/3 | 10.8分钟 / 48.3次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间和决策数是条件内全部试验均值，不是纯模型时延。示范改善成功率不保证缩短时间；拧盖视频＋动作条件比无示范用时更长，失败早停也会影响均值。演示索引还包含取Sprite饮料。硬件适配列表不能证明每项任务都在两种机器人上测试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证据支持“部分任务学习成本转到推理上下文”，不支持“机器人训练不再需要”。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[2] RoboICL：上下文、缓存与调用负载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[论文](https://arxiv.org/html/2609.34261v1)（§4.3、§4.4、§4.5与附录B/C）· [项目报告](https://mosi-ai.github.io/RoboICL-GPT6-Astra.github.io/) · [代码](https://github.com/Mosi-AI/RoboICL)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2026-09-29论文发布。示范/历史采用 observation→action→receipt→observation 格式；保留选中的早期、中间记忆及最新反馈，预测有界动作块。仿真三相机拼图；实机Franka单臂、腕部/外置两相机。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实机任务为Peg in Hole、Folding Towel、Building Bridge，每项每个0/1/3示范条件各5次，随机物体位置/朝向。平均进度14.45、63.33、78.89（0—100分），不是完整成功率。三示范插销中3/5在拾取后未能插入；搭桥仅1/5满分。未见的大毛巾平均进度40分，实例外变化仍有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**负载记录：**三个仿真任务、零/单示范各5回合，共30回合、1,810次完成的API请求。每次用1920×480三视角JPEG（三张640×480），最多50张图；零示范记忆B=25，单示范J=B=12。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累计输入122.51M token，其中113.15M被供应商计数为缓存输入，token加权命中率92.4%；这是跨请求累计量，不能当成单次上下文长度。</a:t>
            </a:r>
          </a:p>
          <a:p xmlns:a="http://schemas.openxmlformats.org/drawingml/2006/main">
            <a:r>
              <a:t>- 输入＋输出累计124.24M token；六个任务/条件的单回合平均token为2.632—5.573M，墙钟平均时间37.4—58.7分钟。这是仿真实验环境记录，不是生产时延。</a:t>
            </a:r>
          </a:p>
          <a:p xmlns:a="http://schemas.openxmlformats.org/drawingml/2006/main">
            <a:r>
              <a:t>- Build Tower加入示范：进度16→100、平均API调用77.4→40.2、token 5.040M→3.265M、墙钟58.7→37.9分钟；另两任务的token均增加，ICL并非总能省算力。</a:t>
            </a:r>
          </a:p>
          <a:p xmlns:a="http://schemas.openxmlformats.org/drawingml/2006/main">
            <a:r>
              <a:t>- 缓存计数及固定前缀检查支持输入复用，但没有提供服务端KV存储位置、容量、带宽或芯片效率。</a:t>
            </a:r>
          </a:p>
          <a:p xmlns:a="http://schemas.openxmlformats.org/drawingml/2006/main">
            <a:r>
              <a:t>- 两项开发集任务的Jev动作复用门控减少Astra调用约33%—48%；Align Blocks成功3/5→2/5，General Pickup为4/5→5/5，不能称为无损优化或泛化结论。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论文与项目页的部分榜单比较数字存在版本差异，本页未采用这些跨模型排名。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[3] GPT-as-Policy：Astra与π0.5协作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[代码及结果表](https://github.com/anonymous-report-421/GPT-as-Policy) · [项目报告](https://anonymous-report-421.github.io/public-website/)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已核对README：RoboDojo十任务、每项五个对齐案例；Astra、xhigh。直接控制26%，π0.5＋Astra审查/修正48%，差为**22个百分点**。成功率分母各50；直接方案只有48个回合有进度分数，进度均值分母另算。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者报告14.4%的已执行控制步被修正。**修正比例不等于Astra调用比例**：被审查后可不修正。不能据此将Astra算力乘以14.4%。其他模型参考成绩部分来自重加权榜单，不是同种子重跑；单页只用该研究内的直接与协作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[4] RPent：记忆引导冻结VLA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[代码与说明](https://github.com/RLinf/RPent) · [论文](https://arxiv.org/abs/2607.08448) · [文档](https://rpent.readthedocs.io/en/latest/)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已读README：Harness VLA结合感知、推理、记忆、执行；LIBERO调用π0.5，RoboCasa调用RLDX-1，RoboTwin调用LingBot-VLA；2026年9月增加Franka单/双臂扩展。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README另报Astra/Codex在八个LIBERO-PRO套件741/800；本次未完整审核记忆批次与协议，不作为单页性能证据，更不外推实机。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[5] CodeActionBench：代码与MCP操作仿真双臂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[论文](https://arxiv.org/html/2609.33807v1)（§4.1、附录D表10）· [项目](https://codeactionbench.org/) · [代码](https://github.com/lyhkk/CodeActionBench)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论文已核实55/75：25固定任务实例，各配置每项3次。Astra＋Codex CLI成功55次、22项至少成功一次、15项三次全成功；九配置共675次。22/25是任务覆盖，不能当作单次成功率或跨场景泛化。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无需额外任务微调、示范或预定义任务策略；共享API提供RGB、校准几何、有界运动与反馈。底层几何和运动规划仍然存在，不能写成完全无机器人先验。隐藏验证器判定物理结果，模型自报完成不是成功标准。Astra端到端中位数477.2秒，包含模型服务等待与环境执行；不同配置比较的是模型加agent harness，未核实实机迁移。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[6] RoboCurve：抓放、精细插槽与复杂双臂任务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[机械臂报告](https://openai.robocurve.org/gpt-6-astra/)（2026-09-04）· [StationeryBench](https://openai.robocurve.org/stationerybench/)（2026-09-10）· [Inspect Robots](https://github.com/robocurve/inspect-robots)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这是RoboCurve团队报告，网址含openai子域不使其成为OpenAI官方实验。YAM每臂6自由度；Astra读三相机/状态，通过move_to给末端位姿与夹爪状态，本地逆解为关节角。第一报告用medium、20次LLM调用预算、25%速度上限。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红块入碗19/20、平均2.5分钟；圆形拼图入槽2/20、平均3.4分钟。视频去掉思考停顿，不能用剪辑推断时延。</a:t>
            </a:r>
          </a:p>
          <a:p xmlns:a="http://schemas.openxmlformats.org/drawingml/2006/main">
            <a:r>
              <a:t>- StationeryBench五项任务各20次：拔笔帽、往举起的碗倒回形针、双臂传尺、抽中间便签、开盒取橡皮再关盒。完整成功7/100，平均进度46/100，46分不等于46%成功。</a:t>
            </a:r>
          </a:p>
          <a:p xmlns:a="http://schemas.openxmlformats.org/drawingml/2006/main">
            <a:r>
              <a:t>- 人工非盲评分、手工复位、部分对比用不同机器人；第一报告不同模型试验未交错。StationeryBench对照VLA为零样本，存在分布外、指令长度及控制接口差异。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结果显示所测任务的能力落差，不能作为全部VLA与通用模型的公平排名；也未单独证明某种传感器能解决问题。接触反馈、局部策略和时限约束是后续验证方向。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[7] astra-robot-sim2real：几何、经验与代码复用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[代码与研究概览](https://github.com/hesd10/astra-robot-sim2real) · [报告](https://github.com/hesd10/astra-robot-sim2real/blob/codex/publication-draft/report/REPORT.md) · [方法](https://github.com/hesd10/astra-robot-sim2real/blob/codex/publication-draft/docs/METHODS.md)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已读README，报告/方法链接供复核；未复现数据分析。冻结Astra借助几何、同步动作/图像经验，在仿真和真实XLeRobot接近电梯按钮，写程序调用低层接口。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12次实机试验中，仿真资料、仿真经验分别降低同起点平均时间53.0%、49.9%，真实经验也用于两个新起点。实机成功为人工确认夹爪尖接触，仿真为按钮激活。12是试验数，不能写12次全成功或全部触发电梯。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STEP/LOOP技能在**仿真**近按钮研究中分别减少29.0%/30.6%平均时间，不能标成实机收益。其机制是本地复用短动作与反馈程序，改变每次大模型调用能完成的工作量。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独立模型路线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[8] DreamZero：14B视频动作模型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[项目报告](https://dreamzero0.github.io/) · [论文](https://arxiv.org/html/2602.15922v1)（§3.2、表2/3、Limitations）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联合预测视频与动作，真实任务含折叠、抓放、装水果及清桌等。它不是Astra项目，不能把14B与3.8—4T直接放在同一能力尺度上排名。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**2个GB200**达到约150ms/动作块、约7Hz；不是单端侧芯片能力，7Hz不是伺服更新频率。</a:t>
            </a:r>
          </a:p>
          <a:p xmlns:a="http://schemas.openxmlformats.org/drawingml/2006/main">
            <a:r>
              <a:t>- 优化涉及CFG双GPU并行、DiT缓存、编译/CUDA Graph、低精度、调度器搬至GPU、异步执行。NVFP4/FP8/FP16混用，不能称为全模型纯4bit且质量不变。</a:t>
            </a:r>
          </a:p>
          <a:p xmlns:a="http://schemas.openxmlformats.org/drawingml/2006/main">
            <a:r>
              <a:t>- 表3清桌任务：四步DreamZero为350ms、进度83%±6.1%；单步DreamZero为150ms、52%±10.2%；单步Flash为150ms、74%±10.1%。误差为标准误，进度不是完整成功率。Flash恢复部分质量，不证明严格无损。</a:t>
            </a:r>
          </a:p>
          <a:p xmlns:a="http://schemas.openxmlformats.org/drawingml/2006/main">
            <a:r>
              <a:t>- 30分钟play data适配YAM属于模型适配训练，与Astra冻结权重ICL不同。</a:t>
            </a:r>
          </a:p>
          <a:p xmlns:a="http://schemas.openxmlformats.org/drawingml/2006/main">
            <a:r>
              <a:t>- 当前联合生成视频/动作，无需运行时搜索；2030年将世界模型用于候选规划是本页预测，不能算作该实验证明的路径。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[9] Gemini Robotics 2：推理、动作与本地部署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[官方发布](https://deepmind.google/blog/gemini-robotics-2-brings-whole-body-intelligence-to-robots/)（2026-07-30）· [ER](https://deepmind.google/models/gemini-robotics/embodied-reasoning/) · [On-Device](https://deepmind.google/models/gemini-robotics/on-device/)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前已读原文：ER负责场景、长任务推理、进度与多机协调，VLA执行，On-Device用于时延/连接受限场景。新双臂适配通常少于200样例、数小时是发布方说法，不是运行时持续在线更新。发布时ER公开预览，VLA/On-Device为早期伙伴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[10] Figure：物理经验预训练与多频率控制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[Helix 2.5](https://www.figure.ai/news/helix-2-5-zero-shot-30-home-generalization)（2026-09-17）· [Helix 02](https://www.figure.ai/news/helix-02)（2026-01-27）· [Index](https://www.figure.ai/news/introducing-index)（2026-08-25）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此前已读原文。Helix 2.5固定结构、优化与下游任务数据等，仅改变Index预训练，在30个未见家庭三类行为的整任务成功率9%→56%，提高47个百分点。零样本指家庭/物体，任务仍在其他场景微调；从随机初始化在Index预训练，不能将收益归因于更大通用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Helix 02的S1为200Hz，S0为1kHz、10M参数；S0训练使用1000小时以上人体运动及20万以上并行仿真环境。这是特定实例，不是全部具身模型的标准频率。Index持续过滤、去重、重平衡、标注视频，训练外数据处理也是负载。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条件建模与芯片传导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T1：多模态任务会话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量为每任务调用数N、第i次新增输入Uᵢ、缓存上下文Sᵢ、输出Oᵢ（token）、新视觉输入Vᵢ、并发会话C和驻留策略。任务工作量拆为：Σᵢ[视觉处理(Vᵢ)＋Prefill(Uᵢ,Sᵢ)＋Decode(Oᵢ,Sᵢ)＋工具执行ᵢ]。这是成本分解，函数依赖结构与实现，不能直接代入为已知FLOP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常规注意力未压缩KV理论容量近似为2×层数L×KV头数n_kv×头维d×元素字节b×驻留token数S×会话数C。长度不同应逐会话求和，压缩注意力/共享前缀/分层会改变公式；Astra结构未知，不代入虚构值。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前缀、会话粘性、分层缓存减少重复处理，却增加驻留与调度约束；裁剪/压缩可能丢失恢复任务所需信息，组批也增加等待。新增token及Decode仍可能访问历史。92.4%输入命中不等于92.4%的总算力、HBM或成本节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验证应拆开Prefill/Decode、上下文分布、各层缓存命中、KV累计搬运、交互排队和CPU工具时间，再定HBM/SRAM与主机资源。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T2：复核、动作块与伺服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分别计数Astra复核N_r、实际纠错N_c、VLA前向N_v、执行动作N_a。成本为复核服务＋VLA＋工具/控制＋通信，不能拿N_c/N_a代替N_r。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块执行时长H/f_a（块长H、动作频率f_a）与模型生成时延、端云往返/排队、观测陈旧度共同决定能否及时补充下一块。异步可隐藏部分推理时间，也可能让状态落后，须测关键路径，不能假设阶段全串行或完全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200Hz/1kHz对应5ms/1ms，只是Helix周期换算，不是我方实测端到端时延。共享缓冲、设备队列、优先级和NoC隔离，要在感知/模型并发时验证P99、更高分位及截止期违约率。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云端大模型、端侧/近端VLA、独立实时核/MCU伺服可分工；不能把三个时间尺度强塞到同一加速器，也不能把联网可用性当成已保证条件。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T3：视频动作与经验训练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跟踪时空token、去噪步数D、CFG分支、动作块长、精度、缓存与有效吞吐。D增加通常增加前向，但质量、固定开销和复用使其未必线性映射到任务时间。DreamZero证明算法少步化和执行优化都重要。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未来用候选规划，状态转移评估率R=E×f×K×H：并行实例E、每实例每秒重规划f、候选数K、每候选展开步数H，单位为候选状态转移评估/秒。这不是现有所有VLA或DreamZero的执行描述。其余条件固定时E增10倍、K增4倍，候选部分工作量约40倍；仅为敏感性示例，不是2030预测或总训练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经验固化包括采集、过滤/标注、回放、模型训练、评估与权重发布。异步采样增加版本与数据陈旧性管理；公开案例不足以给出固定训推比例，要测达到同一成功率所需总资源。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3.8—4T容量情景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用户提供Astra约3.8—4T。本次未取得可核实总/激活参数、稠密/MoE结构的官方报告；此前官方模型文档访问受限。以下只分析用户假设，不证明Astra参数或能力成因。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权重字节＝总参数×位数/8，十进制TB：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总参数 | 4bit | 8bit | BF16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3.8T | 1.9TB | 3.8TB | 7.6TB |</a:t>
            </a:r>
          </a:p>
          <a:p xmlns:a="http://schemas.openxmlformats.org/drawingml/2006/main">
            <a:r>
              <a:t>| 4.0T | 2.0TB | 4.0TB | 8.0TB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理论紧密存储，未含量化元数据、KV、激活、工作区、复制/容错；训练另需梯度与优化器等。量化质量待验证。总参数影响完整权重容量，激活参数/路由影响计算和通信；确认MoE后才讨论特定路由互联。卸载、分片和驻留决定每卡HBM，不能以2TB直接指定一颗芯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面向产品规划的验证顺序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优先级 | 决策与代表负载 | 判据及缺口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**优先验证** | 云侧内存/缓存；RoboICL类多轮视觉会话 | 相同质量下的每成功任务成本、KV驻留/搬运、交互P99；缺模型结构、服务端Trace、并发分布 |</a:t>
            </a:r>
          </a:p>
          <a:p xmlns:a="http://schemas.openxmlformats.org/drawingml/2006/main">
            <a:r>
              <a:t>| **优先验证** | 端侧异构协同/实时域；Astra＋VLA异步动作 | 共享状态、队列开销、观测陈旧度、能耗、截止期；缺真实复核频率、端云链路及接触任务Trace |</a:t>
            </a:r>
          </a:p>
          <a:p xmlns:a="http://schemas.openxmlformats.org/drawingml/2006/main">
            <a:r>
              <a:t>| **并行评估** | 视频动作低精度与带宽；DreamZero类Attention/DiT | 匹配质量对比步数、精度、带宽、能耗；缺目标端侧配置与算子占比 |</a:t>
            </a:r>
          </a:p>
          <a:p xmlns:a="http://schemas.openxmlformats.org/drawingml/2006/main">
            <a:r>
              <a:t>| **条件立项** | 世界模型专用单元、特定MoE路由、端侧持续反传 | 先用可编程实现验证；缺接触预测质量、稳定算子结构、真实任务收益和训练占比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—2028的验证信号：更多任务凭示范/记忆迁移，减少调用后仍保有成功率，协作方案在匹配时延预算下优于单一路线。2029—2030的验证信号：候选推演及持续离线更新在真实长任务上带来重复可得的收益，并覆盖新增计算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统一比较完整任务成功率及样本量、总成本/成功任务数、任务时间/实时违约率、达到目标成功率的训练成本。失败与重试消耗也计入，不能用成功片段、进度分数或语言榜单代替部署可靠性。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a3ca5e9dd4a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eb77410c5f4f10" /><Relationship Type="http://schemas.openxmlformats.org/officeDocument/2006/relationships/slideLayout" Target="/ppt/slideLayouts/slideLayout1.xml" Id="Re2f83186f672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f83186f672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mpute Insight">
      <a:dk1>
        <a:srgbClr val="171717"/>
      </a:dk1>
      <a:lt1>
        <a:srgbClr val="FFFFFF"/>
      </a:lt1>
      <a:dk2>
        <a:srgbClr val="606060"/>
      </a:dk2>
      <a:lt2>
        <a:srgbClr val="EEEEEE"/>
      </a:lt2>
      <a:accent1>
        <a:srgbClr val="C00000"/>
      </a:accent1>
      <a:accent2>
        <a:srgbClr val="005B96"/>
      </a:accent2>
      <a:accent3>
        <a:srgbClr val="606060"/>
      </a:accent3>
      <a:accent4>
        <a:srgbClr val="606060"/>
      </a:accent4>
      <a:accent5>
        <a:srgbClr val="606060"/>
      </a:accent5>
      <a:accent6>
        <a:srgbClr val="606060"/>
      </a:accent6>
      <a:hlink>
        <a:srgbClr val="005B96"/>
      </a:hlink>
      <a:folHlink>
        <a:srgbClr val="005B9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mpute Ins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70c01c7694949" /><Relationship Type="http://schemas.openxmlformats.org/officeDocument/2006/relationships/notesSlide" Target="/ppt/notesSlides/notesSlide1.xml" Id="Rba316324c2a04c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main-title">
            <a:extLst xmlns:a="http://schemas.openxmlformats.org/drawingml/2006/main">
              <a:ext uri="{FF2B5EF4-FFF2-40B4-BE49-F238E27FC236}">
                <a16:creationId xmlns:a16="http://schemas.microsoft.com/office/drawing/2014/main" id="{C5580FBC-1DFB-4802-9CD0-90E5FAE5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3825"/>
            <a:ext cx="1173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具身智能：通用模型进入动作闭环，推动算力负载与训推范式变化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045D0C3F-8A0F-4A03-8816-B801F298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42925"/>
            <a:ext cx="1171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2026年10月—2030年展望    〔事〕公开机制  〔测〕作者实验、未独立复测  〔算〕条件推算  〔预〕趋势判断</a:t>
            </a:r>
          </a:p>
        </p:txBody>
      </p:sp>
      <p:sp>
        <p:nvSpPr>
          <p:cNvPr id="3" name="summary-frame">
            <a:extLst xmlns:a="http://schemas.openxmlformats.org/drawingml/2006/main">
              <a:ext uri="{FF2B5EF4-FFF2-40B4-BE49-F238E27FC236}">
                <a16:creationId xmlns:a16="http://schemas.microsoft.com/office/drawing/2014/main" id="{1F6D5281-9665-4C57-9884-61AD21B2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81050"/>
            <a:ext cx="11734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5715">
            <a:solidFill>
              <a:srgbClr val="B7B7B7"/>
            </a:solidFill>
          </a:ln>
        </p:spPr>
      </p:sp>
      <p:sp>
        <p:nvSpPr>
          <p:cNvPr id="4" name="summary-label">
            <a:extLst xmlns:a="http://schemas.openxmlformats.org/drawingml/2006/main">
              <a:ext uri="{FF2B5EF4-FFF2-40B4-BE49-F238E27FC236}">
                <a16:creationId xmlns:a16="http://schemas.microsoft.com/office/drawing/2014/main" id="{E0A62487-F9C0-49FE-B9B0-21190FA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81050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5" name="summary-label-text">
            <a:extLst xmlns:a="http://schemas.openxmlformats.org/drawingml/2006/main">
              <a:ext uri="{FF2B5EF4-FFF2-40B4-BE49-F238E27FC236}">
                <a16:creationId xmlns:a16="http://schemas.microsoft.com/office/drawing/2014/main" id="{A9A404D7-204D-4A67-8944-7470DCD5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800100"/>
            <a:ext cx="361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</a:t>
            </a:r>
          </a:p>
        </p:txBody>
      </p:sp>
      <p:sp>
        <p:nvSpPr>
          <p:cNvPr id="6" name="model-summary">
            <a:extLst xmlns:a="http://schemas.openxmlformats.org/drawingml/2006/main">
              <a:ext uri="{FF2B5EF4-FFF2-40B4-BE49-F238E27FC236}">
                <a16:creationId xmlns:a16="http://schemas.microsoft.com/office/drawing/2014/main" id="{7941B568-6344-4D7C-B07F-78E6E3EC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1020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模型趋势：</a:t>
            </a:r>
            <a:r>
              <a:rPr sz="13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〔事〕通用模型已参与机器人执行；〔预〕任务适配扩展为“上下文学习＋离线训练固化”，专用策略继续演进。</a:t>
            </a:r>
          </a:p>
        </p:txBody>
      </p:sp>
      <p:sp>
        <p:nvSpPr>
          <p:cNvPr id="7" name="system-summary">
            <a:extLst xmlns:a="http://schemas.openxmlformats.org/drawingml/2006/main">
              <a:ext uri="{FF2B5EF4-FFF2-40B4-BE49-F238E27FC236}">
                <a16:creationId xmlns:a16="http://schemas.microsoft.com/office/drawing/2014/main" id="{FA033823-EE03-4BB3-9913-DF2EA38C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95375"/>
            <a:ext cx="11020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架构优先：</a:t>
            </a:r>
            <a:r>
              <a:rPr sz="13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大模型</a:t>
            </a:r>
            <a:r>
              <a:rPr sz="131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状态复用</a:t>
            </a:r>
            <a:r>
              <a:rPr sz="13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、端侧</a:t>
            </a:r>
            <a:r>
              <a:rPr sz="131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异步协同与实时隔离</a:t>
            </a:r>
            <a:r>
              <a:rPr sz="1313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；视频动作负载单独评估带宽、低精度和能耗。</a:t>
            </a:r>
          </a:p>
        </p:txBody>
      </p:sp>
      <p:sp>
        <p:nvSpPr>
          <p:cNvPr id="8" name="trend-frame">
            <a:extLst xmlns:a="http://schemas.openxmlformats.org/drawingml/2006/main">
              <a:ext uri="{FF2B5EF4-FFF2-40B4-BE49-F238E27FC236}">
                <a16:creationId xmlns:a16="http://schemas.microsoft.com/office/drawing/2014/main" id="{CBA7ADFF-67E0-48D2-81DE-50EF5B1F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573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B7B7B7"/>
            </a:solidFill>
          </a:ln>
        </p:spPr>
      </p:sp>
      <p:sp>
        <p:nvSpPr>
          <p:cNvPr id="9" name="trend-tlh">
            <a:extLst xmlns:a="http://schemas.openxmlformats.org/drawingml/2006/main">
              <a:ext uri="{FF2B5EF4-FFF2-40B4-BE49-F238E27FC236}">
                <a16:creationId xmlns:a16="http://schemas.microsoft.com/office/drawing/2014/main" id="{3BACECC0-8145-4F04-9F76-B30E043C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573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10" name="trend-tlv">
            <a:extLst xmlns:a="http://schemas.openxmlformats.org/drawingml/2006/main">
              <a:ext uri="{FF2B5EF4-FFF2-40B4-BE49-F238E27FC236}">
                <a16:creationId xmlns:a16="http://schemas.microsoft.com/office/drawing/2014/main" id="{5AAC2E0F-645C-4A0C-8C9E-CCE75A2B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573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11" name="trend-brh">
            <a:extLst xmlns:a="http://schemas.openxmlformats.org/drawingml/2006/main">
              <a:ext uri="{FF2B5EF4-FFF2-40B4-BE49-F238E27FC236}">
                <a16:creationId xmlns:a16="http://schemas.microsoft.com/office/drawing/2014/main" id="{AFB5E6C4-9475-442A-AF52-38B2CB2A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243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12" name="trend-brv">
            <a:extLst xmlns:a="http://schemas.openxmlformats.org/drawingml/2006/main">
              <a:ext uri="{FF2B5EF4-FFF2-40B4-BE49-F238E27FC236}">
                <a16:creationId xmlns:a16="http://schemas.microsoft.com/office/drawing/2014/main" id="{CA7B34D4-02BF-4C9B-91E2-CA71FBEB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624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13" name="trend-label">
            <a:extLst xmlns:a="http://schemas.openxmlformats.org/drawingml/2006/main">
              <a:ext uri="{FF2B5EF4-FFF2-40B4-BE49-F238E27FC236}">
                <a16:creationId xmlns:a16="http://schemas.microsoft.com/office/drawing/2014/main" id="{25DAE0AB-FF86-4F79-8031-486BE8E6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33525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4" name="trend-heading">
            <a:extLst xmlns:a="http://schemas.openxmlformats.org/drawingml/2006/main">
              <a:ext uri="{FF2B5EF4-FFF2-40B4-BE49-F238E27FC236}">
                <a16:creationId xmlns:a16="http://schemas.microsoft.com/office/drawing/2014/main" id="{E8BF8837-3BBF-4F1D-BF86-CD14F439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335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模型演进与负载趋势</a:t>
            </a:r>
          </a:p>
        </p:txBody>
      </p:sp>
      <p:sp>
        <p:nvSpPr>
          <p:cNvPr id="15" name="date-0">
            <a:extLst xmlns:a="http://schemas.openxmlformats.org/drawingml/2006/main">
              <a:ext uri="{FF2B5EF4-FFF2-40B4-BE49-F238E27FC236}">
                <a16:creationId xmlns:a16="http://schemas.microsoft.com/office/drawing/2014/main" id="{71753D99-D400-440C-B8F8-F2F27B42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91452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rPr>
              <a:t>2026.10</a:t>
            </a:r>
          </a:p>
        </p:txBody>
      </p:sp>
      <p:sp>
        <p:nvSpPr>
          <p:cNvPr id="16" name="status-0">
            <a:extLst xmlns:a="http://schemas.openxmlformats.org/drawingml/2006/main">
              <a:ext uri="{FF2B5EF4-FFF2-40B4-BE49-F238E27FC236}">
                <a16:creationId xmlns:a16="http://schemas.microsoft.com/office/drawing/2014/main" id="{03DA3D1C-FD64-4081-830E-E8300A9C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81225"/>
            <a:ext cx="962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〔事〕基线</a:t>
            </a:r>
          </a:p>
        </p:txBody>
      </p:sp>
      <p:sp>
        <p:nvSpPr>
          <p:cNvPr id="17" name="trend-0-0">
            <a:extLst xmlns:a="http://schemas.openxmlformats.org/drawingml/2006/main">
              <a:ext uri="{FF2B5EF4-FFF2-40B4-BE49-F238E27FC236}">
                <a16:creationId xmlns:a16="http://schemas.microsoft.com/office/drawing/2014/main" id="{D8DCCA07-558C-403F-AF05-D1F3DF66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9547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T1 示范适配：GPT-Policy / RoboICL</a:t>
            </a:r>
          </a:p>
        </p:txBody>
      </p:sp>
      <p:sp>
        <p:nvSpPr>
          <p:cNvPr id="18" name="trend-0-1">
            <a:extLst xmlns:a="http://schemas.openxmlformats.org/drawingml/2006/main">
              <a:ext uri="{FF2B5EF4-FFF2-40B4-BE49-F238E27FC236}">
                <a16:creationId xmlns:a16="http://schemas.microsoft.com/office/drawing/2014/main" id="{24D5F5C0-F4BB-4325-8E66-75EA37B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T2 通用规划＋VLA：RPent / π0.5</a:t>
            </a:r>
          </a:p>
        </p:txBody>
      </p:sp>
      <p:sp>
        <p:nvSpPr>
          <p:cNvPr id="19" name="trend-0-2">
            <a:extLst xmlns:a="http://schemas.openxmlformats.org/drawingml/2006/main">
              <a:ext uri="{FF2B5EF4-FFF2-40B4-BE49-F238E27FC236}">
                <a16:creationId xmlns:a16="http://schemas.microsoft.com/office/drawing/2014/main" id="{13DD567C-36BE-4109-94D2-D8A92DD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955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T3 视频动作联合预测：DreamZero</a:t>
            </a:r>
          </a:p>
        </p:txBody>
      </p:sp>
      <p:sp>
        <p:nvSpPr>
          <p:cNvPr id="20" name="stage-divider-1">
            <a:extLst xmlns:a="http://schemas.openxmlformats.org/drawingml/2006/main">
              <a:ext uri="{FF2B5EF4-FFF2-40B4-BE49-F238E27FC236}">
                <a16:creationId xmlns:a16="http://schemas.microsoft.com/office/drawing/2014/main" id="{9149FB79-1180-48AC-8FA3-EA8FF125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717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D9D9"/>
            </a:solidFill>
          </a:ln>
        </p:spPr>
      </p:sp>
      <p:sp>
        <p:nvSpPr>
          <p:cNvPr id="21" name="date-1">
            <a:extLst xmlns:a="http://schemas.openxmlformats.org/drawingml/2006/main">
              <a:ext uri="{FF2B5EF4-FFF2-40B4-BE49-F238E27FC236}">
                <a16:creationId xmlns:a16="http://schemas.microsoft.com/office/drawing/2014/main" id="{3E4C34B1-CEF7-49B4-8EA0-820FC580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68605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rPr>
              <a:t>2027—28</a:t>
            </a:r>
          </a:p>
        </p:txBody>
      </p:sp>
      <p:sp>
        <p:nvSpPr>
          <p:cNvPr id="22" name="status-1">
            <a:extLst xmlns:a="http://schemas.openxmlformats.org/drawingml/2006/main">
              <a:ext uri="{FF2B5EF4-FFF2-40B4-BE49-F238E27FC236}">
                <a16:creationId xmlns:a16="http://schemas.microsoft.com/office/drawing/2014/main" id="{FB0C88DF-5B25-4EA4-8195-73BB3E77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52750"/>
            <a:ext cx="962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〔预〕近期</a:t>
            </a:r>
          </a:p>
        </p:txBody>
      </p:sp>
      <p:sp>
        <p:nvSpPr>
          <p:cNvPr id="23" name="trend-1-0">
            <a:extLst xmlns:a="http://schemas.openxmlformats.org/drawingml/2006/main">
              <a:ext uri="{FF2B5EF4-FFF2-40B4-BE49-F238E27FC236}">
                <a16:creationId xmlns:a16="http://schemas.microsoft.com/office/drawing/2014/main" id="{41B72F24-05BC-4D13-A716-0F02992F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T1 经验检索、技能复用 → 少调用</a:t>
            </a:r>
          </a:p>
        </p:txBody>
      </p:sp>
      <p:sp>
        <p:nvSpPr>
          <p:cNvPr id="24" name="trend-1-1">
            <a:extLst xmlns:a="http://schemas.openxmlformats.org/drawingml/2006/main">
              <a:ext uri="{FF2B5EF4-FFF2-40B4-BE49-F238E27FC236}">
                <a16:creationId xmlns:a16="http://schemas.microsoft.com/office/drawing/2014/main" id="{E36FAA2A-E945-4810-849F-8F7467C7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670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T2 工具/VLA择优、纠错 → 多模型协同</a:t>
            </a:r>
          </a:p>
        </p:txBody>
      </p:sp>
      <p:sp>
        <p:nvSpPr>
          <p:cNvPr id="25" name="trend-1-2">
            <a:extLst xmlns:a="http://schemas.openxmlformats.org/drawingml/2006/main">
              <a:ext uri="{FF2B5EF4-FFF2-40B4-BE49-F238E27FC236}">
                <a16:creationId xmlns:a16="http://schemas.microsoft.com/office/drawing/2014/main" id="{1C172F95-AF82-4098-B445-5C9651C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67050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轨迹回流后训练/蒸馏，采样与更新交替</a:t>
            </a:r>
          </a:p>
        </p:txBody>
      </p:sp>
      <p:sp>
        <p:nvSpPr>
          <p:cNvPr id="26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BEB37B93-6A7D-461B-A728-DF1A5B20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4327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D9D9"/>
            </a:solidFill>
          </a:ln>
        </p:spPr>
      </p:sp>
      <p:sp>
        <p:nvSpPr>
          <p:cNvPr id="27" name="date-2">
            <a:extLst xmlns:a="http://schemas.openxmlformats.org/drawingml/2006/main">
              <a:ext uri="{FF2B5EF4-FFF2-40B4-BE49-F238E27FC236}">
                <a16:creationId xmlns:a16="http://schemas.microsoft.com/office/drawing/2014/main" id="{6C724445-CCB4-4808-B1F6-85529CFE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5757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rPr>
              <a:t>2029—30</a:t>
            </a:r>
          </a:p>
        </p:txBody>
      </p:sp>
      <p:sp>
        <p:nvSpPr>
          <p:cNvPr id="28" name="status-2">
            <a:extLst xmlns:a="http://schemas.openxmlformats.org/drawingml/2006/main">
              <a:ext uri="{FF2B5EF4-FFF2-40B4-BE49-F238E27FC236}">
                <a16:creationId xmlns:a16="http://schemas.microsoft.com/office/drawing/2014/main" id="{81813D1D-9126-4E31-8770-AB5E18AD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24275"/>
            <a:ext cx="962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〔预〕远期</a:t>
            </a:r>
          </a:p>
        </p:txBody>
      </p:sp>
      <p:sp>
        <p:nvSpPr>
          <p:cNvPr id="29" name="trend-2-0">
            <a:extLst xmlns:a="http://schemas.openxmlformats.org/drawingml/2006/main">
              <a:ext uri="{FF2B5EF4-FFF2-40B4-BE49-F238E27FC236}">
                <a16:creationId xmlns:a16="http://schemas.microsoft.com/office/drawing/2014/main" id="{5AB416AC-37A7-4335-812D-C747A6E1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T2/T3 世界模型比较候选动作</a:t>
            </a:r>
          </a:p>
        </p:txBody>
      </p:sp>
      <p:sp>
        <p:nvSpPr>
          <p:cNvPr id="30" name="trend-2-1">
            <a:extLst xmlns:a="http://schemas.openxmlformats.org/drawingml/2006/main">
              <a:ext uri="{FF2B5EF4-FFF2-40B4-BE49-F238E27FC236}">
                <a16:creationId xmlns:a16="http://schemas.microsoft.com/office/drawing/2014/main" id="{792A059C-AA1D-4A06-A3E5-1D873C16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以接触预测质量与任务收益为前提</a:t>
            </a:r>
          </a:p>
        </p:txBody>
      </p:sp>
      <p:sp>
        <p:nvSpPr>
          <p:cNvPr id="31" name="trend-2-2">
            <a:extLst xmlns:a="http://schemas.openxmlformats.org/drawingml/2006/main">
              <a:ext uri="{FF2B5EF4-FFF2-40B4-BE49-F238E27FC236}">
                <a16:creationId xmlns:a16="http://schemas.microsoft.com/office/drawing/2014/main" id="{2D19A519-B4F4-466C-84AE-8AF4B6D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3857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离线持续更新；端侧在线反传待验证</a:t>
            </a:r>
          </a:p>
        </p:txBody>
      </p:sp>
      <p:sp>
        <p:nvSpPr>
          <p:cNvPr id="32" name="other-routes">
            <a:extLst xmlns:a="http://schemas.openxmlformats.org/drawingml/2006/main">
              <a:ext uri="{FF2B5EF4-FFF2-40B4-BE49-F238E27FC236}">
                <a16:creationId xmlns:a16="http://schemas.microsoft.com/office/drawing/2014/main" id="{58AA1307-DD11-46FF-804E-7F2351B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05275"/>
            <a:ext cx="443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并行路线：Gemini推理/动作分层；Helix物理数据预训练 [9–10]</a:t>
            </a:r>
          </a:p>
        </p:txBody>
      </p:sp>
      <p:sp>
        <p:nvSpPr>
          <p:cNvPr id="33" name="requirements-frame">
            <a:extLst xmlns:a="http://schemas.openxmlformats.org/drawingml/2006/main">
              <a:ext uri="{FF2B5EF4-FFF2-40B4-BE49-F238E27FC236}">
                <a16:creationId xmlns:a16="http://schemas.microsoft.com/office/drawing/2014/main" id="{CC3BCA8F-64C6-483B-859F-FE423AD5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69151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B7B7B7"/>
            </a:solidFill>
          </a:ln>
        </p:spPr>
      </p:sp>
      <p:sp>
        <p:nvSpPr>
          <p:cNvPr id="34" name="requirements-tlh">
            <a:extLst xmlns:a="http://schemas.openxmlformats.org/drawingml/2006/main">
              <a:ext uri="{FF2B5EF4-FFF2-40B4-BE49-F238E27FC236}">
                <a16:creationId xmlns:a16="http://schemas.microsoft.com/office/drawing/2014/main" id="{AEACEA49-7BB9-4091-869B-75103531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35" name="requirements-tlv">
            <a:extLst xmlns:a="http://schemas.openxmlformats.org/drawingml/2006/main">
              <a:ext uri="{FF2B5EF4-FFF2-40B4-BE49-F238E27FC236}">
                <a16:creationId xmlns:a16="http://schemas.microsoft.com/office/drawing/2014/main" id="{902000E9-EA16-425D-8589-5A5914B2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36" name="requirements-brh">
            <a:extLst xmlns:a="http://schemas.openxmlformats.org/drawingml/2006/main">
              <a:ext uri="{FF2B5EF4-FFF2-40B4-BE49-F238E27FC236}">
                <a16:creationId xmlns:a16="http://schemas.microsoft.com/office/drawing/2014/main" id="{D270F3D8-A6CA-481D-8FCB-54614DB7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43243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37" name="requirements-brv">
            <a:extLst xmlns:a="http://schemas.openxmlformats.org/drawingml/2006/main">
              <a:ext uri="{FF2B5EF4-FFF2-40B4-BE49-F238E27FC236}">
                <a16:creationId xmlns:a16="http://schemas.microsoft.com/office/drawing/2014/main" id="{FD3AFB12-B66D-48F7-A4D8-89F34DB2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1624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38" name="requirements-label">
            <a:extLst xmlns:a="http://schemas.openxmlformats.org/drawingml/2006/main">
              <a:ext uri="{FF2B5EF4-FFF2-40B4-BE49-F238E27FC236}">
                <a16:creationId xmlns:a16="http://schemas.microsoft.com/office/drawing/2014/main" id="{040E34A4-BF8C-42B8-A3B4-7DA1EBE4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33525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39" name="requirements-heading">
            <a:extLst xmlns:a="http://schemas.openxmlformats.org/drawingml/2006/main">
              <a:ext uri="{FF2B5EF4-FFF2-40B4-BE49-F238E27FC236}">
                <a16:creationId xmlns:a16="http://schemas.microsoft.com/office/drawing/2014/main" id="{BFAF6D6A-5D40-471B-93D4-F7908F4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335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负载机制、Infra与系统需求</a:t>
            </a:r>
          </a:p>
        </p:txBody>
      </p:sp>
      <p:graphicFrame>
        <p:nvGraphicFramePr>
          <p:cNvPr id="114" name=""/>
          <p:cNvGraphicFramePr/>
          <p:nvPr/>
        </p:nvGraphicFramePr>
        <p:xfrm>
          <a:off xmlns:a="http://schemas.openxmlformats.org/drawingml/2006/main" x="5143500" y="1895475"/>
          <a:ext xmlns:a="http://schemas.openxmlformats.org/drawingml/2006/main" cx="6724650" cy="23241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000125"/>
                <a:gridCol w="2733675"/>
                <a:gridCol w="2990850"/>
              </a:tblGrid>
              <a:tr h="295275"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38" b="1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</a:t>
                      </a:r>
                    </a:p>
                  </a:txBody>
                  <a:tcPr marL="66675" marR="66675" marT="47625" marB="47625" anchor="ctr">
                    <a:solidFill>
                      <a:srgbClr val="E8F0F5"/>
                    </a:solidFill>
                  </a:tcPr>
                </a:tc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1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负载机制 / Infra优化</a:t>
                      </a:r>
                    </a:p>
                  </a:txBody>
                  <a:tcPr marL="66675" marR="66675" marT="47625" marB="47625" anchor="ctr">
                    <a:solidFill>
                      <a:srgbClr val="E8F0F5"/>
                    </a:solidFill>
                  </a:tcPr>
                </a:tc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1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芯片与系统增量（待验证规格）</a:t>
                      </a:r>
                    </a:p>
                  </a:txBody>
                  <a:tcPr marL="66675" marR="66675" marT="47625" marB="47625" anchor="ctr">
                    <a:solidFill>
                      <a:srgbClr val="E8F0F5"/>
                    </a:solidFill>
                  </a:tcPr>
                </a:tc>
              </a:tr>
              <a:tr h="676275"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上下文适配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与工具策略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多视角/历史增加Prefill与KV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固定前缀、KV复用、记忆裁剪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权衡：状态驻留与信息损失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云侧：HBM/分层内存、KV搬运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主机：图像处理与工具执行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按上下文/并发定容量与带宽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通用模型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＋专用动作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慢推理/纠错与快动作异步运行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动作分块、事件复核、优先调度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权衡：调用量与观测陈旧度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端侧：状态缓存、CPU–NPU共享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低开销队列、NoC保障、实时域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按P99、抖动与截止期违约验收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视频动作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8" b="1">
                          <a:solidFill>
                            <a:srgbClr val="005B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与经验训练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视频Attention/DiT、多步去噪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少步训练、混合精度、异步采样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权衡：任务质量与执行时延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66675" tIns="47625" rIns="66675" bIns="4762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训推集群：矩阵/向量效率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HBM带宽、互联、混合训推调度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8" b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端侧部署须满足功耗/时延预算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rend-to-evidence">
            <a:extLst xmlns:a="http://schemas.openxmlformats.org/drawingml/2006/main">
              <a:ext uri="{FF2B5EF4-FFF2-40B4-BE49-F238E27FC236}">
                <a16:creationId xmlns:a16="http://schemas.microsoft.com/office/drawing/2014/main" id="{0C65EDA2-ABD3-4F9A-8385-19F28431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62450"/>
            <a:ext cx="180975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06060"/>
          </a:solidFill>
          <a:ln xmlns:a="http://schemas.openxmlformats.org/drawingml/2006/main" w="0">
            <a:noFill/>
          </a:ln>
        </p:spPr>
      </p:sp>
      <p:sp>
        <p:nvSpPr>
          <p:cNvPr id="42" name="evidence-to-system">
            <a:extLst xmlns:a="http://schemas.openxmlformats.org/drawingml/2006/main">
              <a:ext uri="{FF2B5EF4-FFF2-40B4-BE49-F238E27FC236}">
                <a16:creationId xmlns:a16="http://schemas.microsoft.com/office/drawing/2014/main" id="{53734C38-7AEE-4870-984F-331EBA40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62450"/>
            <a:ext cx="180975" cy="142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06060"/>
          </a:solidFill>
          <a:ln xmlns:a="http://schemas.openxmlformats.org/drawingml/2006/main" w="0">
            <a:noFill/>
          </a:ln>
        </p:spPr>
      </p:sp>
      <p:sp>
        <p:nvSpPr>
          <p:cNvPr id="43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735A4586-0BCB-4C6E-ACA3-C2D7B7A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76775"/>
            <a:ext cx="11734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B7B7B7"/>
            </a:solidFill>
          </a:ln>
        </p:spPr>
      </p:sp>
      <p:sp>
        <p:nvSpPr>
          <p:cNvPr id="44" name="evidence-tlh">
            <a:extLst xmlns:a="http://schemas.openxmlformats.org/drawingml/2006/main">
              <a:ext uri="{FF2B5EF4-FFF2-40B4-BE49-F238E27FC236}">
                <a16:creationId xmlns:a16="http://schemas.microsoft.com/office/drawing/2014/main" id="{9181D0BE-568E-48B0-8577-AAE93066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7677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45" name="evidence-tlv">
            <a:extLst xmlns:a="http://schemas.openxmlformats.org/drawingml/2006/main">
              <a:ext uri="{FF2B5EF4-FFF2-40B4-BE49-F238E27FC236}">
                <a16:creationId xmlns:a16="http://schemas.microsoft.com/office/drawing/2014/main" id="{13780FED-5842-43E9-8383-2C8BCF1A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767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46" name="evidence-brh">
            <a:extLst xmlns:a="http://schemas.openxmlformats.org/drawingml/2006/main">
              <a:ext uri="{FF2B5EF4-FFF2-40B4-BE49-F238E27FC236}">
                <a16:creationId xmlns:a16="http://schemas.microsoft.com/office/drawing/2014/main" id="{49505F82-970F-4860-B353-02F459C0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613410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47" name="evidence-brv">
            <a:extLst xmlns:a="http://schemas.openxmlformats.org/drawingml/2006/main">
              <a:ext uri="{FF2B5EF4-FFF2-40B4-BE49-F238E27FC236}">
                <a16:creationId xmlns:a16="http://schemas.microsoft.com/office/drawing/2014/main" id="{1CEDBEF6-F0CB-45CA-8D28-961AEDF4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721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00000"/>
            </a:solidFill>
          </a:ln>
        </p:spPr>
      </p:sp>
      <p:sp>
        <p:nvSpPr>
          <p:cNvPr id="48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65ED6B45-D48A-40EE-9B80-A4F97EBB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9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E143227E-72EA-4C50-A0CF-9C8A41CE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52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案例证据与条件建模</a:t>
            </a:r>
          </a:p>
        </p:txBody>
      </p:sp>
      <p:sp>
        <p:nvSpPr>
          <p:cNvPr id="50" name="evidence-col-1">
            <a:extLst xmlns:a="http://schemas.openxmlformats.org/drawingml/2006/main">
              <a:ext uri="{FF2B5EF4-FFF2-40B4-BE49-F238E27FC236}">
                <a16:creationId xmlns:a16="http://schemas.microsoft.com/office/drawing/2014/main" id="{88ACAC19-4DDF-4286-A4B7-E2DC9D2F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8155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6D6D6"/>
            </a:solidFill>
          </a:ln>
        </p:spPr>
      </p:sp>
      <p:sp>
        <p:nvSpPr>
          <p:cNvPr id="51" name="evidence-col-2">
            <a:extLst xmlns:a="http://schemas.openxmlformats.org/drawingml/2006/main">
              <a:ext uri="{FF2B5EF4-FFF2-40B4-BE49-F238E27FC236}">
                <a16:creationId xmlns:a16="http://schemas.microsoft.com/office/drawing/2014/main" id="{B993E431-65BA-448F-998D-0ECE3AD9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8155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6D6D6"/>
            </a:solidFill>
          </a:ln>
        </p:spPr>
      </p:sp>
      <p:sp>
        <p:nvSpPr>
          <p:cNvPr id="52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5BAB9285-E8E7-4622-BC03-94A0F48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800600"/>
            <a:ext cx="3648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rPr>
              <a:t>T1  实机适配与状态负载</a:t>
            </a:r>
          </a:p>
        </p:txBody>
      </p:sp>
      <p:sp>
        <p:nvSpPr>
          <p:cNvPr id="53" name="evidence-0-0">
            <a:extLst xmlns:a="http://schemas.openxmlformats.org/drawingml/2006/main">
              <a:ext uri="{FF2B5EF4-FFF2-40B4-BE49-F238E27FC236}">
                <a16:creationId xmlns:a16="http://schemas.microsoft.com/office/drawing/2014/main" id="{74F9D1D9-FAFE-4BFF-A5AC-56635506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048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〔测·实机〕GPT-Policy：视频＋对应动作 [1]</a:t>
            </a:r>
          </a:p>
        </p:txBody>
      </p:sp>
      <p:sp>
        <p:nvSpPr>
          <p:cNvPr id="54" name="evidence-0-1">
            <a:extLst xmlns:a="http://schemas.openxmlformats.org/drawingml/2006/main">
              <a:ext uri="{FF2B5EF4-FFF2-40B4-BE49-F238E27FC236}">
                <a16:creationId xmlns:a16="http://schemas.microsoft.com/office/drawing/2014/main" id="{993FDC03-B802-4FC6-BF54-3DA2B047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2387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拧瓶盖 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0/3→3/3</a:t>
            </a: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；插拔插头 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0/3→2/3</a:t>
            </a:r>
          </a:p>
        </p:txBody>
      </p:sp>
      <p:sp>
        <p:nvSpPr>
          <p:cNvPr id="55" name="evidence-0-2">
            <a:extLst xmlns:a="http://schemas.openxmlformats.org/drawingml/2006/main">
              <a:ext uri="{FF2B5EF4-FFF2-40B4-BE49-F238E27FC236}">
                <a16:creationId xmlns:a16="http://schemas.microsoft.com/office/drawing/2014/main" id="{E8D9E415-6D48-4992-A538-74FD5012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29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每条件仅3次，不能外推部署可靠性。</a:t>
            </a:r>
          </a:p>
        </p:txBody>
      </p:sp>
      <p:sp>
        <p:nvSpPr>
          <p:cNvPr id="56" name="evidence-0-3">
            <a:extLst xmlns:a="http://schemas.openxmlformats.org/drawingml/2006/main">
              <a:ext uri="{FF2B5EF4-FFF2-40B4-BE49-F238E27FC236}">
                <a16:creationId xmlns:a16="http://schemas.microsoft.com/office/drawing/2014/main" id="{78F80ABF-5469-443D-BB61-CD65706D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197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〔测·仿真〕RoboICL：30回合 / 1,810请求 [2]</a:t>
            </a:r>
          </a:p>
        </p:txBody>
      </p:sp>
      <p:sp>
        <p:nvSpPr>
          <p:cNvPr id="57" name="evidence-0-4">
            <a:extLst xmlns:a="http://schemas.openxmlformats.org/drawingml/2006/main">
              <a:ext uri="{FF2B5EF4-FFF2-40B4-BE49-F238E27FC236}">
                <a16:creationId xmlns:a16="http://schemas.microsoft.com/office/drawing/2014/main" id="{DEC579DF-E767-4C5F-862B-F3AE397C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10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输入缓存命中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92.4%</a:t>
            </a: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≠ 总成本节省率</a:t>
            </a:r>
          </a:p>
        </p:txBody>
      </p:sp>
      <p:sp>
        <p:nvSpPr>
          <p:cNvPr id="58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9F68B7D8-FF12-4389-8A03-BF1760B6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00600"/>
            <a:ext cx="3648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rPr>
              <a:t>T2  协作收益与能力边界</a:t>
            </a:r>
          </a:p>
        </p:txBody>
      </p:sp>
      <p:sp>
        <p:nvSpPr>
          <p:cNvPr id="59" name="evidence-1-0">
            <a:extLst xmlns:a="http://schemas.openxmlformats.org/drawingml/2006/main">
              <a:ext uri="{FF2B5EF4-FFF2-40B4-BE49-F238E27FC236}">
                <a16:creationId xmlns:a16="http://schemas.microsoft.com/office/drawing/2014/main" id="{CFD83D16-2B8F-43FA-BEE4-28C74A60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〔测·仿真〕GPT-as-Policy：各方案50次 [3]</a:t>
            </a:r>
          </a:p>
        </p:txBody>
      </p:sp>
      <p:sp>
        <p:nvSpPr>
          <p:cNvPr id="60" name="evidence-1-1">
            <a:extLst xmlns:a="http://schemas.openxmlformats.org/drawingml/2006/main">
              <a:ext uri="{FF2B5EF4-FFF2-40B4-BE49-F238E27FC236}">
                <a16:creationId xmlns:a16="http://schemas.microsoft.com/office/drawing/2014/main" id="{B839D36C-BDDA-41A9-B2AE-5429F8D1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Astra直接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26%</a:t>
            </a: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→ π0.5＋Astra 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61" name="evidence-1-2">
            <a:extLst xmlns:a="http://schemas.openxmlformats.org/drawingml/2006/main">
              <a:ext uri="{FF2B5EF4-FFF2-40B4-BE49-F238E27FC236}">
                <a16:creationId xmlns:a16="http://schemas.microsoft.com/office/drawing/2014/main" id="{7FBABC96-5399-4C7F-B466-7B1AB1E3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29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〔测·实机〕RoboCurve：入碗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19/20</a:t>
            </a: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[6]</a:t>
            </a:r>
          </a:p>
        </p:txBody>
      </p:sp>
      <p:sp>
        <p:nvSpPr>
          <p:cNvPr id="62" name="evidence-1-3">
            <a:extLst xmlns:a="http://schemas.openxmlformats.org/drawingml/2006/main">
              <a:ext uri="{FF2B5EF4-FFF2-40B4-BE49-F238E27FC236}">
                <a16:creationId xmlns:a16="http://schemas.microsoft.com/office/drawing/2014/main" id="{545DD4F1-48AF-4D0E-89B8-2CF4C16E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97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精细拼图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2/20</a:t>
            </a: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；复杂双臂文具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7/100</a:t>
            </a:r>
          </a:p>
        </p:txBody>
      </p:sp>
      <p:sp>
        <p:nvSpPr>
          <p:cNvPr id="63" name="evidence-1-4">
            <a:extLst xmlns:a="http://schemas.openxmlformats.org/drawingml/2006/main">
              <a:ext uri="{FF2B5EF4-FFF2-40B4-BE49-F238E27FC236}">
                <a16:creationId xmlns:a16="http://schemas.microsoft.com/office/drawing/2014/main" id="{909B0CFE-94BD-4F3D-86EB-D37C966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10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接触操作与长任务仍需验证局部反馈。</a:t>
            </a:r>
          </a:p>
        </p:txBody>
      </p:sp>
      <p:sp>
        <p:nvSpPr>
          <p:cNvPr id="64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909A5405-298B-4D29-AC8B-D5F88970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00600"/>
            <a:ext cx="3648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5B96"/>
                </a:solidFill>
                <a:latin typeface="Microsoft YaHei"/>
                <a:ea typeface="Microsoft YaHei"/>
                <a:cs typeface="Microsoft YaHei"/>
              </a:rPr>
              <a:t>T3  视频动作与容量约束</a:t>
            </a:r>
          </a:p>
        </p:txBody>
      </p:sp>
      <p:sp>
        <p:nvSpPr>
          <p:cNvPr id="65" name="evidence-2-0">
            <a:extLst xmlns:a="http://schemas.openxmlformats.org/drawingml/2006/main">
              <a:ext uri="{FF2B5EF4-FFF2-40B4-BE49-F238E27FC236}">
                <a16:creationId xmlns:a16="http://schemas.microsoft.com/office/drawing/2014/main" id="{5EE746FC-DB61-4257-8CAA-836779F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048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〔测〕DreamZero：14B，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2个GB200</a:t>
            </a: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 [8]</a:t>
            </a:r>
          </a:p>
        </p:txBody>
      </p:sp>
      <p:sp>
        <p:nvSpPr>
          <p:cNvPr id="66" name="evidence-2-1">
            <a:extLst xmlns:a="http://schemas.openxmlformats.org/drawingml/2006/main">
              <a:ext uri="{FF2B5EF4-FFF2-40B4-BE49-F238E27FC236}">
                <a16:creationId xmlns:a16="http://schemas.microsoft.com/office/drawing/2014/main" id="{B7298B38-44BE-4205-AA80-CE06005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387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约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150ms/动作块</a:t>
            </a: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、7Hz（非伺服频率）</a:t>
            </a:r>
          </a:p>
        </p:txBody>
      </p:sp>
      <p:sp>
        <p:nvSpPr>
          <p:cNvPr id="67" name="evidence-2-2">
            <a:extLst xmlns:a="http://schemas.openxmlformats.org/drawingml/2006/main">
              <a:ext uri="{FF2B5EF4-FFF2-40B4-BE49-F238E27FC236}">
                <a16:creationId xmlns:a16="http://schemas.microsoft.com/office/drawing/2014/main" id="{676A1127-6528-4117-8756-E5C2ED21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单步Flash进度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74%</a:t>
            </a: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，四步模型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83%</a:t>
            </a:r>
          </a:p>
        </p:txBody>
      </p:sp>
      <p:sp>
        <p:nvSpPr>
          <p:cNvPr id="68" name="evidence-2-3">
            <a:extLst xmlns:a="http://schemas.openxmlformats.org/drawingml/2006/main">
              <a:ext uri="{FF2B5EF4-FFF2-40B4-BE49-F238E27FC236}">
                <a16:creationId xmlns:a16="http://schemas.microsoft.com/office/drawing/2014/main" id="{9C6869FA-0915-4757-95BC-FD223196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〔算〕3.8–4T×4bit/8＝</a:t>
            </a:r>
            <a:r>
              <a:rPr sz="118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1.9–2.0TB</a:t>
            </a:r>
          </a:p>
        </p:txBody>
      </p:sp>
      <p:sp>
        <p:nvSpPr>
          <p:cNvPr id="69" name="evidence-2-4">
            <a:extLst xmlns:a="http://schemas.openxmlformats.org/drawingml/2006/main">
              <a:ext uri="{FF2B5EF4-FFF2-40B4-BE49-F238E27FC236}">
                <a16:creationId xmlns:a16="http://schemas.microsoft.com/office/drawing/2014/main" id="{5C957EF9-711C-408F-9697-9EE56C36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810250"/>
            <a:ext cx="3638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仅理论权重，未含KV/激活/量化开销。</a:t>
            </a:r>
          </a:p>
        </p:txBody>
      </p:sp>
      <p:sp>
        <p:nvSpPr>
          <p:cNvPr id="70" name="assumption-and-validation-band">
            <a:extLst xmlns:a="http://schemas.openxmlformats.org/drawingml/2006/main">
              <a:ext uri="{FF2B5EF4-FFF2-40B4-BE49-F238E27FC236}">
                <a16:creationId xmlns:a16="http://schemas.microsoft.com/office/drawing/2014/main" id="{CC7127E3-C67D-4613-9AE4-53CA693F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19825"/>
            <a:ext cx="11734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71" name="parameter-assumption">
            <a:extLst xmlns:a="http://schemas.openxmlformats.org/drawingml/2006/main">
              <a:ext uri="{FF2B5EF4-FFF2-40B4-BE49-F238E27FC236}">
                <a16:creationId xmlns:a16="http://schemas.microsoft.com/office/drawing/2014/main" id="{922EF569-4DAC-4C52-8B03-E8ADEF45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1152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参数口径：Astra的3.8–4T总参数</a:t>
            </a:r>
            <a:r>
              <a:rPr sz="108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仅为情景假设</a:t>
            </a:r>
            <a:r>
              <a:rPr sz="1088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，未核实；上述能力增益不能归因于参数规模。</a:t>
            </a:r>
          </a:p>
        </p:txBody>
      </p:sp>
      <p:sp>
        <p:nvSpPr>
          <p:cNvPr id="72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718680DF-67C9-4FB2-BBE1-5ED1ED0A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0325"/>
            <a:ext cx="1152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待验证：总/激活参数、上下文与调用分布、接触反馈、端云P99/功耗；以每成功任务成本、训练成本与实时截止期定规格。</a:t>
            </a:r>
          </a:p>
        </p:txBody>
      </p:sp>
      <p:sp>
        <p:nvSpPr>
          <p:cNvPr id="7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8CA5586-0DB3-49E0-B6BC-303989F8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648450"/>
            <a:ext cx="11430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8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来源：[1] GPT-Policy  [2] RoboICL  [3] GPT-as-Policy  [4] RPent  [6] RoboCurve  [8] DreamZero  [9] Gemini  [10] Helix；完整链接与七项Astra案例见备注</a:t>
            </a:r>
          </a:p>
        </p:txBody>
      </p:sp>
      <p:sp>
        <p:nvSpPr>
          <p:cNvPr id="7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573816-AB98-492A-9B53-27CEA894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6484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58357291"/>
      </p:ext>
    </p:extLst>
  </p:cSld>
</p:sld>
</file>

<file path=ppt/theme/theme1.xml><?xml version="1.0" encoding="utf-8"?>
<a:theme xmlns:a="http://schemas.openxmlformats.org/drawingml/2006/main" name="ChatGPT">
  <a:themeElements>
    <a:clrScheme name="Compute Insight">
      <a:dk1>
        <a:srgbClr val="171717"/>
      </a:dk1>
      <a:lt1>
        <a:srgbClr val="FFFFFF"/>
      </a:lt1>
      <a:dk2>
        <a:srgbClr val="606060"/>
      </a:dk2>
      <a:lt2>
        <a:srgbClr val="EEEEEE"/>
      </a:lt2>
      <a:accent1>
        <a:srgbClr val="C00000"/>
      </a:accent1>
      <a:accent2>
        <a:srgbClr val="005B96"/>
      </a:accent2>
      <a:accent3>
        <a:srgbClr val="606060"/>
      </a:accent3>
      <a:accent4>
        <a:srgbClr val="606060"/>
      </a:accent4>
      <a:accent5>
        <a:srgbClr val="606060"/>
      </a:accent5>
      <a:accent6>
        <a:srgbClr val="606060"/>
      </a:accent6>
      <a:hlink>
        <a:srgbClr val="005B96"/>
      </a:hlink>
      <a:folHlink>
        <a:srgbClr val="005B9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mpute Ins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2026-10-02T12:35:51.4440000Z</dcterms:created>
  <dcterms:modified xsi:type="dcterms:W3CDTF">2026-10-02T12:35:51.4440000Z</dcterms:modified>
</coreProperties>
</file>